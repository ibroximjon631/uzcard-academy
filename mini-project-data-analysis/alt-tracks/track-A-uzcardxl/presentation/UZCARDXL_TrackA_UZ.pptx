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1556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2A78D6"/>
                </a:solidFill>
                <a:latin typeface="Calibri"/>
              </a:rPr>
              <a:t>UZCARD ACADEMY · MINI-PROJECT · A TREK</a:t>
            </a:r>
          </a:p>
          <a:p>
            <a:pPr>
              <a:spcAft>
                <a:spcPts val="600"/>
              </a:spcAft>
            </a:pPr>
            <a:r>
              <a:rPr sz="3800" b="1">
                <a:solidFill>
                  <a:srgbClr val="0B0B0B"/>
                </a:solidFill>
                <a:latin typeface="Calibri"/>
              </a:rPr>
              <a:t>UZCARD-XL: protsessing qayerda pul yo'qotadi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52514E"/>
                </a:solidFill>
                <a:latin typeface="Calibri"/>
              </a:rPr>
              <a:t>Mijozlar, operatsiyalar dinamikasi, radlar va nizoli operatsiyalar · 2023 yil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493776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52514E"/>
                </a:solidFill>
                <a:latin typeface="Calibri"/>
              </a:rPr>
              <a:t>Jamoa:  Ibroximjon Tojiboyev  ·  2-ishtirokchi  ·  3-ishtirokchi</a:t>
            </a:r>
          </a:p>
          <a:p>
            <a:pPr>
              <a:spcAft>
                <a:spcPts val="600"/>
              </a:spcAft>
            </a:pPr>
            <a:r>
              <a:rPr sz="1300" b="0">
                <a:solidFill>
                  <a:srgbClr val="898781"/>
                </a:solidFill>
                <a:latin typeface="Calibri"/>
              </a:rPr>
              <a:t>Ma'lumotlar: ds_customers, ds_cards, ds_transactions_2, ds_merchants_2, ds_mcc_categories · 60 320 operatsiya · SQL + Python, ML siz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A trek · UZCARD Academy 2026 · 1/6-slayd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MUAMMO VA MA'LUMOTLAR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Buyurtmachi: mijozlar kim, o'sish qayerda, pulni qayerda yo'qotamiz?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202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Buyurtmachi so'rovi:</a:t>
            </a:r>
          </a:p>
          <a:p>
            <a:pPr>
              <a:spcAft>
                <a:spcPts val="1400"/>
              </a:spcAft>
            </a:pPr>
            <a:r>
              <a:rPr sz="1400" b="0">
                <a:solidFill>
                  <a:srgbClr val="52514E"/>
                </a:solidFill>
                <a:latin typeface="Calibri"/>
              </a:rPr>
              <a:t>«Mijozlarimiz kim va qanday to'lashini, biznes qayerda o'sib qayerda cho'kayotganini, pulni qayerda yo'qotayotganimizni (radlar, nizoli operatsiyalar) tushunishimiz kerak».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0B0B0B"/>
                </a:solidFill>
                <a:latin typeface="Calibri"/>
              </a:rPr>
              <a:t>Qanday izladik: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1.  31 ta ds_* jadvaldan JOIN orqali o'z trekimizning 5 tasini topdik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2.  3 gipoteza: portfel dinamikasi · segmentlar radlari · MCC bo'yicha nizolar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3.  Har xulosa — raqam + statistik test (trend + II, z-test, χ²)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10312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2A78D6"/>
                </a:solidFill>
                <a:latin typeface="Calibri"/>
              </a:rPr>
              <a:t>60 320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2023-yil operatsiyalari · 3 286 karta ·
2 000 mijoz · 600 merchant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A trek · UZCARD Academy 2026 · 2/6-slayd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2A78D6"/>
                </a:solidFill>
                <a:latin typeface="Calibri"/>
              </a:rPr>
              <a:t>1-TOPILMA · DINAMIKA · IBROXIMJON TOJIBOYEV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Yillik o'sish ×16 — sog'lom portfel jadallashuvi, dekabr +63 % — mavsum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2A78D6"/>
                </a:solidFill>
                <a:latin typeface="Calibri"/>
              </a:rPr>
              <a:t>×16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2023 yilda operatsiyalar o'sishi
(oyiga 769 → 12 864);
fev–noy trendi +23 %/oy,
radlar barqaror: 5,5–6,9 %</a:t>
            </a:r>
          </a:p>
        </p:txBody>
      </p:sp>
      <p:pic>
        <p:nvPicPr>
          <p:cNvPr id="5" name="Picture 4" descr="a1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31449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Faol kartalar operatsiyalar bilan sinxron o'sadi — anomaliya yo'q, avtorizatsiya sifati buzilmagan.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A trek · UZCARD Academy 2026 · 3/6-slayd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2-TOPILMA · RADLAR · 2-ISHTIROKCHI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Student segmenti: har 9-operatsiya rad — normadan 2 baravar ko'p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D03B3B"/>
                </a:solidFill>
                <a:latin typeface="Calibri"/>
              </a:rPr>
              <a:t>11,2 %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studentlarda rad, boshqalarda 5,8 %
(+5,4 f.p., 95 % II 4,2–6,5;
z = 11,9; p &lt; 0,001).
Sabablarning 73 % i —
insufficient_funds + limit</a:t>
            </a:r>
          </a:p>
        </p:txBody>
      </p:sp>
      <p:pic>
        <p:nvPicPr>
          <p:cNvPr id="5" name="Picture 4" descr="a2_seg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8378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Sabab mahsulotda (balans/limit), fird emas → mikro-overdraft, balans bildirishnomalari, aqlli retray.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A trek · UZCARD Academy 2026 · 4/6-slayd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D03B3B"/>
                </a:solidFill>
                <a:latin typeface="Calibri"/>
              </a:rPr>
              <a:t>3-TOPILMA · NIZOLAR · 3-ISHTIROKCHI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Nizoli pullarning 91 % i — onlaynda: 1,16 % operatsiya (oflaynda 0,03–0,11 %)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5800" b="1">
                <a:solidFill>
                  <a:srgbClr val="D03B3B"/>
                </a:solidFill>
                <a:latin typeface="Calibri"/>
              </a:rPr>
              <a:t>103 mln</a:t>
            </a:r>
          </a:p>
          <a:p>
            <a:pPr>
              <a:spcAft>
                <a:spcPts val="600"/>
              </a:spcAft>
            </a:pPr>
            <a:r>
              <a:rPr sz="1350" b="0">
                <a:solidFill>
                  <a:srgbClr val="52514E"/>
                </a:solidFill>
                <a:latin typeface="Calibri"/>
              </a:rPr>
              <a:t>so'm Online-MCC guruhida nizo ostida
(barcha nizoli summalarning 91 % i);
nizo chastotasi oflayndan ×10–20
(χ² = 400, p &lt; 0,001)</a:t>
            </a:r>
          </a:p>
        </p:txBody>
      </p:sp>
      <p:pic>
        <p:nvPicPr>
          <p:cNvPr id="5" name="Picture 4" descr="a3_dispute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920240"/>
            <a:ext cx="6766560" cy="28115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44068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Tavsiya: 200 ming so'mdan yuqori operatsiyalarga 3-D Secure, e-com merchant skoringi, 1 % chegara monitoringi.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A trek · UZCARD Academy 2026 · 5/6-slayd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008300"/>
                </a:solidFill>
                <a:latin typeface="Calibri"/>
              </a:rPr>
              <a:t>TAVSIYA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600" b="1">
                <a:solidFill>
                  <a:srgbClr val="0B0B0B"/>
                </a:solidFill>
                <a:latin typeface="Calibri"/>
              </a:rPr>
              <a:t>Harakatlar rejasi: studentlarni ushlab qolish, onlayn teshigini yopish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Student segmenti uchun mikro-overdraft va balans bildirishnomalari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828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radlarni 11,2 % → ~6 % ga qaytarish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7860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78608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insufficient_funds radlariga aqlli retray (balans to'lganda qayta urinish)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578608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oyiga 332 yo'qotilgan operatsiyaning bir qismi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28415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28415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200 ming so'mdan yuqori e-com uchun majburiy 3-D Secure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328415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nizoli summalarning 91 % konsentratsiyasini pasaytirish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07822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078224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Onlayn-merchantlar skoringi va monitoringi (nizo chegarasi 1 %)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078224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muammoli merchantlarni erta ushlash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8280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8300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828032"/>
            <a:ext cx="6949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0">
                <a:solidFill>
                  <a:srgbClr val="0B0B0B"/>
                </a:solidFill>
                <a:latin typeface="Calibri"/>
              </a:rPr>
              <a:t>Dekabr uchun quvvat rejasi (+63 % mavsumiy cho'qqi)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28032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52514E"/>
                </a:solidFill>
                <a:latin typeface="Calibri"/>
              </a:rPr>
              <a:t>cho'qqida protsessing barqarorligi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0B0B0B"/>
                </a:solidFill>
                <a:latin typeface="Calibri"/>
              </a:rPr>
              <a:t>Bosh raqamlar: student = 11,2 % rad (normadan ×2), Online = nizoli summalarning 91 % i (103 mln so'm).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000" b="0">
                <a:solidFill>
                  <a:srgbClr val="898781"/>
                </a:solidFill>
                <a:latin typeface="Calibri"/>
              </a:rPr>
              <a:t>UZCARD-XL · A trek · UZCARD Academy 2026 · 6/6-slayd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